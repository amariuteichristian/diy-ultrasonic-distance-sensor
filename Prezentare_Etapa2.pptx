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5" r:id="rId4"/>
    <p:sldId id="256" r:id="rId5"/>
    <p:sldId id="263" r:id="rId6"/>
    <p:sldId id="258" r:id="rId7"/>
    <p:sldId id="260" r:id="rId8"/>
    <p:sldId id="266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209ACBA7-8AA0-407B-E3E7-DDC902F486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1AC95DFD-CC48-C1C6-1602-98153033F8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0739C7EE-FDA7-5DF8-1167-F34CCD76A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04B8-3393-40F2-B9E7-526AEA3D782C}" type="datetimeFigureOut">
              <a:rPr lang="ro-RO" smtClean="0"/>
              <a:t>27.05.2026</a:t>
            </a:fld>
            <a:endParaRPr lang="ro-RO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68299EC7-77DF-3A12-DF6B-1C02C87EB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80DBA9C4-A495-7822-E4B5-4587B5E9B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F65F4-DE7F-4FE0-97F1-F39327D6D86B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67563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8BA0E84B-D75D-9836-E2AF-61A53522B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4A48B1D6-0061-BB58-D99B-DB478DCD9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A3DFC436-48AB-E19D-F654-FA5C86184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04B8-3393-40F2-B9E7-526AEA3D782C}" type="datetimeFigureOut">
              <a:rPr lang="ro-RO" smtClean="0"/>
              <a:t>27.05.2026</a:t>
            </a:fld>
            <a:endParaRPr lang="ro-RO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20B121D9-E7BC-52C4-AA1F-B544A436D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C5995C3E-DF84-C21B-0FEF-A14C525FB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F65F4-DE7F-4FE0-97F1-F39327D6D86B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038364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F4EABC10-AE28-E7A4-02D2-7E225B50D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65A26CB0-884A-A575-01BD-918CF9F37A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367B7337-C57A-42C6-23FD-637E8FE58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04B8-3393-40F2-B9E7-526AEA3D782C}" type="datetimeFigureOut">
              <a:rPr lang="ro-RO" smtClean="0"/>
              <a:t>27.05.2026</a:t>
            </a:fld>
            <a:endParaRPr lang="ro-RO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1FDF95DB-40BA-41C1-F6E2-201F0AD8D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553C90D6-924C-AC51-8314-D7853AAF8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F65F4-DE7F-4FE0-97F1-F39327D6D86B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440619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D4E09B4B-B430-2D49-ABE4-4B0FF32DA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B5EF6ED4-3741-B2DC-8669-72141EF516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0245F2BA-673F-ECE5-BFAD-21BC2888D7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C40F7ED2-318D-A447-FBDC-616C86F4D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04B8-3393-40F2-B9E7-526AEA3D782C}" type="datetimeFigureOut">
              <a:rPr lang="ro-RO" smtClean="0"/>
              <a:t>27.05.2026</a:t>
            </a:fld>
            <a:endParaRPr lang="ro-RO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1A61C0D2-66C5-848D-6A85-80E720689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BE4C8CA6-6FE3-CA83-F2C0-45AC83F36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F65F4-DE7F-4FE0-97F1-F39327D6D86B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062488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BC826202-EB87-46F3-651E-5B60F4D97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1C0AEF8D-4298-9F8A-6E17-5E78BFB99B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03CE631F-9EFA-027A-5AED-AE0A16FE84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E16E4440-9C5B-3712-8639-44C5B7D40E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7A7686EC-15DF-55F4-A967-0A50CD59C1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6657CFAB-81C9-5930-0A25-6DABFA5B8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04B8-3393-40F2-B9E7-526AEA3D782C}" type="datetimeFigureOut">
              <a:rPr lang="ro-RO" smtClean="0"/>
              <a:t>27.05.2026</a:t>
            </a:fld>
            <a:endParaRPr lang="ro-RO"/>
          </a:p>
        </p:txBody>
      </p:sp>
      <p:sp>
        <p:nvSpPr>
          <p:cNvPr id="8" name="Substituent subsol 7">
            <a:extLst>
              <a:ext uri="{FF2B5EF4-FFF2-40B4-BE49-F238E27FC236}">
                <a16:creationId xmlns:a16="http://schemas.microsoft.com/office/drawing/2014/main" id="{2DC96370-76A4-F3FB-EED4-1F0D5ADE3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ubstituent număr diapozitiv 8">
            <a:extLst>
              <a:ext uri="{FF2B5EF4-FFF2-40B4-BE49-F238E27FC236}">
                <a16:creationId xmlns:a16="http://schemas.microsoft.com/office/drawing/2014/main" id="{08C25709-9B04-EFFF-8E86-D967589FC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F65F4-DE7F-4FE0-97F1-F39327D6D86B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09417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5BDC5149-A1C7-B652-65F8-E1ECE33EC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33937375-F22A-C7B5-22A0-15D9F4A72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04B8-3393-40F2-B9E7-526AEA3D782C}" type="datetimeFigureOut">
              <a:rPr lang="ro-RO" smtClean="0"/>
              <a:t>27.05.2026</a:t>
            </a:fld>
            <a:endParaRPr lang="ro-RO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C29F1D02-8CF6-EFD3-B251-58522B810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E0FFEFF4-2841-981E-D6CC-9E2B311A7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F65F4-DE7F-4FE0-97F1-F39327D6D86B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74854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>
            <a:extLst>
              <a:ext uri="{FF2B5EF4-FFF2-40B4-BE49-F238E27FC236}">
                <a16:creationId xmlns:a16="http://schemas.microsoft.com/office/drawing/2014/main" id="{B9316BE9-01C3-1159-9B8B-30581D91E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04B8-3393-40F2-B9E7-526AEA3D782C}" type="datetimeFigureOut">
              <a:rPr lang="ro-RO" smtClean="0"/>
              <a:t>27.05.2026</a:t>
            </a:fld>
            <a:endParaRPr lang="ro-RO"/>
          </a:p>
        </p:txBody>
      </p:sp>
      <p:sp>
        <p:nvSpPr>
          <p:cNvPr id="3" name="Substituent subsol 2">
            <a:extLst>
              <a:ext uri="{FF2B5EF4-FFF2-40B4-BE49-F238E27FC236}">
                <a16:creationId xmlns:a16="http://schemas.microsoft.com/office/drawing/2014/main" id="{07918CA0-2053-BA14-DEB1-89C0A708A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E48EA293-291E-344B-4222-2E227F880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F65F4-DE7F-4FE0-97F1-F39327D6D86B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005914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3798D37-4FC7-E2EB-371C-862B435C5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FEC7330B-B75A-39CC-0E1B-C8713BAC3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98A0EDB2-CB15-7F40-4932-9B4C6201F2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F8ED2041-9853-B3CD-5AFF-4AD94B621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04B8-3393-40F2-B9E7-526AEA3D782C}" type="datetimeFigureOut">
              <a:rPr lang="ro-RO" smtClean="0"/>
              <a:t>27.05.2026</a:t>
            </a:fld>
            <a:endParaRPr lang="ro-RO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DFE488B6-03FD-B455-E1ED-51736622D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EF95F659-0616-4AB4-5B47-683ADF920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F65F4-DE7F-4FE0-97F1-F39327D6D86B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19405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72E3AAE-7262-7204-6B2C-1C4240C6A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418F7765-062D-D15E-6525-0FF03DBEB3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656251C1-97E6-6710-EA60-A47F65C8F9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A0D0FE7A-4AC2-E8A2-591C-A6A8DA5A5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04B8-3393-40F2-B9E7-526AEA3D782C}" type="datetimeFigureOut">
              <a:rPr lang="ro-RO" smtClean="0"/>
              <a:t>27.05.2026</a:t>
            </a:fld>
            <a:endParaRPr lang="ro-RO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877BACDA-5C3A-AAEF-DCBD-9380CA293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073C0884-8D0B-E472-C7FC-341E32B00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F65F4-DE7F-4FE0-97F1-F39327D6D86B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91516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EF13D38C-F798-5DF2-36BC-505F0A704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748361F6-BA4F-3F88-F935-C245DCF822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876EEDE2-5DF5-1987-A909-DA7313503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04B8-3393-40F2-B9E7-526AEA3D782C}" type="datetimeFigureOut">
              <a:rPr lang="ro-RO" smtClean="0"/>
              <a:t>27.05.2026</a:t>
            </a:fld>
            <a:endParaRPr lang="ro-RO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1B1F2735-891E-97F1-8748-60E60E3A0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650A0B37-0198-934E-C0D9-08413EC2C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F65F4-DE7F-4FE0-97F1-F39327D6D86B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79464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>
            <a:extLst>
              <a:ext uri="{FF2B5EF4-FFF2-40B4-BE49-F238E27FC236}">
                <a16:creationId xmlns:a16="http://schemas.microsoft.com/office/drawing/2014/main" id="{EE64E07D-2B12-8E79-ACB6-6C308FD8F7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7D0CF06B-7DF0-3CFB-2AA1-633FDBD637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11664726-BAB7-CF6B-F015-4094FA7CB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04B8-3393-40F2-B9E7-526AEA3D782C}" type="datetimeFigureOut">
              <a:rPr lang="ro-RO" smtClean="0"/>
              <a:t>27.05.2026</a:t>
            </a:fld>
            <a:endParaRPr lang="ro-RO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4BF02B76-58B7-D742-251A-912591A48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F03D0536-48CA-EEE3-20AD-CB7544878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F65F4-DE7F-4FE0-97F1-F39327D6D86B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12227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EA53A21F-5043-5ED3-FE39-33A86941E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3EC309B9-5ED2-E5C2-8BE9-4CC33B1BAB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5693B67B-9E23-7A0F-1803-E5C3942AFD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5204B8-3393-40F2-B9E7-526AEA3D782C}" type="datetimeFigureOut">
              <a:rPr lang="ro-RO" smtClean="0"/>
              <a:t>27.05.2026</a:t>
            </a:fld>
            <a:endParaRPr lang="ro-RO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AB8514AD-3800-CAA6-5065-1FFC3149D8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A6CC5DAA-61C4-E547-21CC-547A9A3671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1F65F4-DE7F-4FE0-97F1-F39327D6D86B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17422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Ultrasound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EFE4C9-6443-FE03-8D01-BAA83CDB5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7">
            <a:extLst>
              <a:ext uri="{FF2B5EF4-FFF2-40B4-BE49-F238E27FC236}">
                <a16:creationId xmlns:a16="http://schemas.microsoft.com/office/drawing/2014/main" id="{43C48B49-6135-48B6-AC0F-97E5D8D1F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D6492677-E7C3-800F-0F94-A4CA849EA4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9766" y="1146412"/>
            <a:ext cx="9014348" cy="2402006"/>
          </a:xfrm>
        </p:spPr>
        <p:txBody>
          <a:bodyPr anchor="b">
            <a:normAutofit/>
          </a:bodyPr>
          <a:lstStyle/>
          <a:p>
            <a:r>
              <a:rPr lang="ro-RO" sz="4100" dirty="0"/>
              <a:t>Aplicații practice ale microcontrolerelor – Proiect 2</a:t>
            </a:r>
            <a:br>
              <a:rPr lang="ro-RO" sz="4100" dirty="0"/>
            </a:br>
            <a:r>
              <a:rPr lang="ro-RO" sz="4100" dirty="0"/>
              <a:t>(APMPr2)</a:t>
            </a:r>
            <a:br>
              <a:rPr lang="ro-RO" sz="4100" dirty="0"/>
            </a:br>
            <a:endParaRPr lang="ro-RO" sz="4100" dirty="0"/>
          </a:p>
        </p:txBody>
      </p:sp>
      <p:sp>
        <p:nvSpPr>
          <p:cNvPr id="23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" y="4374554"/>
            <a:ext cx="12192007" cy="248344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40655" y="4374554"/>
            <a:ext cx="4051344" cy="2483446"/>
          </a:xfrm>
          <a:prstGeom prst="rect">
            <a:avLst/>
          </a:prstGeom>
          <a:gradFill>
            <a:gsLst>
              <a:gs pos="4000">
                <a:schemeClr val="accent1">
                  <a:alpha val="21000"/>
                </a:schemeClr>
              </a:gs>
              <a:gs pos="83000">
                <a:schemeClr val="accent1">
                  <a:lumMod val="50000"/>
                  <a:alpha val="61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F256AC18-FB41-4977-8B0C-F5082335A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379429"/>
            <a:ext cx="12191984" cy="1953928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alpha val="5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" y="4380927"/>
            <a:ext cx="12192000" cy="2019443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45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85D11495-2773-A8B6-4424-AF6CF94CD0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9765" y="4892722"/>
            <a:ext cx="9688302" cy="1078173"/>
          </a:xfrm>
        </p:spPr>
        <p:txBody>
          <a:bodyPr anchor="ctr">
            <a:normAutofit/>
          </a:bodyPr>
          <a:lstStyle/>
          <a:p>
            <a:r>
              <a:rPr lang="ro-RO" dirty="0">
                <a:solidFill>
                  <a:srgbClr val="FFFFFF"/>
                </a:solidFill>
              </a:rPr>
              <a:t>Senzor ultrasonic de distanță (DIY)</a:t>
            </a:r>
            <a:endParaRPr lang="en-GB" dirty="0">
              <a:solidFill>
                <a:srgbClr val="FFFFFF"/>
              </a:solidFill>
            </a:endParaRPr>
          </a:p>
          <a:p>
            <a:pPr algn="l"/>
            <a:endParaRPr lang="ro-RO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8973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u 2">
            <a:extLst>
              <a:ext uri="{FF2B5EF4-FFF2-40B4-BE49-F238E27FC236}">
                <a16:creationId xmlns:a16="http://schemas.microsoft.com/office/drawing/2014/main" id="{4EF04FAC-DBF3-A5DC-AF5C-3B262BC06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8036"/>
            <a:ext cx="5863772" cy="1402470"/>
          </a:xfrm>
        </p:spPr>
        <p:txBody>
          <a:bodyPr anchor="t">
            <a:normAutofit/>
          </a:bodyPr>
          <a:lstStyle/>
          <a:p>
            <a:r>
              <a:rPr lang="en-US" sz="3200" dirty="0" err="1"/>
              <a:t>Introducere</a:t>
            </a:r>
            <a:endParaRPr lang="ro-RO" sz="32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ubstituent conținut 4">
            <a:extLst>
              <a:ext uri="{FF2B5EF4-FFF2-40B4-BE49-F238E27FC236}">
                <a16:creationId xmlns:a16="http://schemas.microsoft.com/office/drawing/2014/main" id="{59D41704-40B0-65A7-1563-0236815F1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551176"/>
            <a:ext cx="5863772" cy="3591207"/>
          </a:xfrm>
        </p:spPr>
        <p:txBody>
          <a:bodyPr>
            <a:normAutofit/>
          </a:bodyPr>
          <a:lstStyle/>
          <a:p>
            <a:r>
              <a:rPr lang="en-US" sz="2000" dirty="0"/>
              <a:t>Am</a:t>
            </a:r>
            <a:r>
              <a:rPr lang="ro-RO" sz="2000" dirty="0"/>
              <a:t> </a:t>
            </a:r>
            <a:r>
              <a:rPr lang="en-US" sz="2000" dirty="0" err="1"/>
              <a:t>reu</a:t>
            </a:r>
            <a:r>
              <a:rPr lang="ro-RO" sz="2000" dirty="0" err="1"/>
              <a:t>șit</a:t>
            </a:r>
            <a:r>
              <a:rPr lang="ro-RO" sz="2000" dirty="0"/>
              <a:t> să proiectăm un dispozitiv care măsoară distanța, fără contact, pe baza timpului de propagare a unui impuls ultrasonic.</a:t>
            </a:r>
          </a:p>
        </p:txBody>
      </p:sp>
      <p:pic>
        <p:nvPicPr>
          <p:cNvPr id="4" name="Substituent conținut 3">
            <a:extLst>
              <a:ext uri="{FF2B5EF4-FFF2-40B4-BE49-F238E27FC236}">
                <a16:creationId xmlns:a16="http://schemas.microsoft.com/office/drawing/2014/main" id="{AB1F009B-D954-7669-E3EA-42A51847B7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445" b="1"/>
          <a:stretch>
            <a:fillRect/>
          </a:stretch>
        </p:blipFill>
        <p:spPr>
          <a:xfrm>
            <a:off x="7502070" y="1197346"/>
            <a:ext cx="3811745" cy="2144098"/>
          </a:xfrm>
          <a:prstGeom prst="rect">
            <a:avLst/>
          </a:prstGeom>
        </p:spPr>
      </p:pic>
      <p:pic>
        <p:nvPicPr>
          <p:cNvPr id="2" name="Imagine 1">
            <a:extLst>
              <a:ext uri="{FF2B5EF4-FFF2-40B4-BE49-F238E27FC236}">
                <a16:creationId xmlns:a16="http://schemas.microsoft.com/office/drawing/2014/main" id="{3F179551-7D6F-A04C-5315-F8B03194CA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445" b="1"/>
          <a:stretch>
            <a:fillRect/>
          </a:stretch>
        </p:blipFill>
        <p:spPr>
          <a:xfrm>
            <a:off x="7502070" y="3524333"/>
            <a:ext cx="3811745" cy="2144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52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C45B681-E8CD-12B3-F66F-49AA00429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40" y="1138265"/>
            <a:ext cx="4651204" cy="140118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/>
              <a:t>Implementare hardware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1462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setăText 4">
            <a:extLst>
              <a:ext uri="{FF2B5EF4-FFF2-40B4-BE49-F238E27FC236}">
                <a16:creationId xmlns:a16="http://schemas.microsoft.com/office/drawing/2014/main" id="{C6986F73-FFF4-852D-1C1E-F6082C6455EF}"/>
              </a:ext>
            </a:extLst>
          </p:cNvPr>
          <p:cNvSpPr txBox="1"/>
          <p:nvPr/>
        </p:nvSpPr>
        <p:spPr>
          <a:xfrm>
            <a:off x="761839" y="2551176"/>
            <a:ext cx="4651205" cy="36029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o-RO" sz="2000" noProof="0" dirty="0"/>
              <a:t>Circuitul analogic realizat folosind componente discrete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o-RO" sz="2000" noProof="0" dirty="0" err="1"/>
              <a:t>Arduino</a:t>
            </a:r>
            <a:r>
              <a:rPr lang="ro-RO" sz="2000" noProof="0" dirty="0"/>
              <a:t> </a:t>
            </a:r>
            <a:r>
              <a:rPr lang="ro-RO" sz="2000" noProof="0" dirty="0" err="1"/>
              <a:t>Nano</a:t>
            </a:r>
            <a:endParaRPr lang="ro-RO" sz="2000" noProof="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o-RO" sz="2000" noProof="0" dirty="0"/>
              <a:t>Traductoare ultrasonice și suport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o-RO" sz="2000" noProof="0" dirty="0"/>
              <a:t>Afișaj cu 7 segmente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o-RO" sz="2000" noProof="0" dirty="0" err="1"/>
              <a:t>Breadboard</a:t>
            </a:r>
            <a:endParaRPr lang="ro-RO" sz="2000" noProof="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ro-RO" sz="2000" noProof="0" dirty="0"/>
          </a:p>
        </p:txBody>
      </p:sp>
      <p:pic>
        <p:nvPicPr>
          <p:cNvPr id="10" name="Imagine 9">
            <a:extLst>
              <a:ext uri="{FF2B5EF4-FFF2-40B4-BE49-F238E27FC236}">
                <a16:creationId xmlns:a16="http://schemas.microsoft.com/office/drawing/2014/main" id="{351728D0-7C19-CA11-723C-EFAE29ADF4A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044" y="1138265"/>
            <a:ext cx="6181257" cy="463552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75710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F29C2C85-1492-463C-B805-3FD3FCE93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83D307E-DF68-43F8-97CE-0AAE950A7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71255" y="-1"/>
            <a:ext cx="7649490" cy="5728133"/>
            <a:chOff x="329184" y="1"/>
            <a:chExt cx="524256" cy="5728133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546E3D2-37BF-4528-9851-2B2F628234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28134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52A0C69-DC4E-4FC0-843C-BAA27B3A56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8ED94938-268E-4C0A-A08A-B3980C78B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318045"/>
            <a:ext cx="10999072" cy="53251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23F40E99-E93C-92ED-BA10-EBB87D9263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0232" y="3883014"/>
            <a:ext cx="10071536" cy="929750"/>
          </a:xfrm>
        </p:spPr>
        <p:txBody>
          <a:bodyPr anchor="b">
            <a:normAutofit/>
          </a:bodyPr>
          <a:lstStyle/>
          <a:p>
            <a:r>
              <a:rPr lang="ro-RO" sz="5200"/>
              <a:t>Transmițător(TX)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2683A3AE-E802-A50E-CF1B-2715F0338A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0232" y="4943175"/>
            <a:ext cx="10071536" cy="448377"/>
          </a:xfrm>
        </p:spPr>
        <p:txBody>
          <a:bodyPr anchor="t">
            <a:normAutofit/>
          </a:bodyPr>
          <a:lstStyle/>
          <a:p>
            <a:endParaRPr lang="ro-RO" sz="2000"/>
          </a:p>
        </p:txBody>
      </p:sp>
      <p:pic>
        <p:nvPicPr>
          <p:cNvPr id="6" name="Imagine 5">
            <a:extLst>
              <a:ext uri="{FF2B5EF4-FFF2-40B4-BE49-F238E27FC236}">
                <a16:creationId xmlns:a16="http://schemas.microsoft.com/office/drawing/2014/main" id="{FA5AE860-002D-B668-608F-03FAE11256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408" b="10037"/>
          <a:stretch>
            <a:fillRect/>
          </a:stretch>
        </p:blipFill>
        <p:spPr>
          <a:xfrm>
            <a:off x="6428904" y="980147"/>
            <a:ext cx="5001096" cy="2983946"/>
          </a:xfrm>
          <a:prstGeom prst="rect">
            <a:avLst/>
          </a:prstGeom>
        </p:spPr>
      </p:pic>
      <p:pic>
        <p:nvPicPr>
          <p:cNvPr id="7" name="Imagine 6">
            <a:extLst>
              <a:ext uri="{FF2B5EF4-FFF2-40B4-BE49-F238E27FC236}">
                <a16:creationId xmlns:a16="http://schemas.microsoft.com/office/drawing/2014/main" id="{BDECD0EF-E336-2096-5ABE-D2E4EF130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841" y="641781"/>
            <a:ext cx="5324007" cy="3322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567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D1907B7-BE68-E78E-4382-42A34F1DC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41712"/>
            <a:ext cx="8029572" cy="106116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o-RO" sz="4000" dirty="0"/>
              <a:t>Semnalul </a:t>
            </a:r>
            <a:r>
              <a:rPr lang="ro-RO" sz="4000" dirty="0" err="1"/>
              <a:t>recepți</a:t>
            </a:r>
            <a:r>
              <a:rPr lang="en-US" sz="4000" dirty="0" err="1"/>
              <a:t>onat</a:t>
            </a:r>
            <a:r>
              <a:rPr lang="en-US" sz="4000" dirty="0"/>
              <a:t>(RX)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92712F8-36FA-35DF-0CE8-4098D9332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Substituent conținut 8">
            <a:extLst>
              <a:ext uri="{FF2B5EF4-FFF2-40B4-BE49-F238E27FC236}">
                <a16:creationId xmlns:a16="http://schemas.microsoft.com/office/drawing/2014/main" id="{F6BFBF79-4699-7B50-9CA5-E770455C01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4079" y="2468885"/>
            <a:ext cx="3334528" cy="2500896"/>
          </a:xfrm>
          <a:prstGeom prst="rect">
            <a:avLst/>
          </a:prstGeom>
        </p:spPr>
      </p:pic>
      <p:pic>
        <p:nvPicPr>
          <p:cNvPr id="13" name="Imagine 12">
            <a:extLst>
              <a:ext uri="{FF2B5EF4-FFF2-40B4-BE49-F238E27FC236}">
                <a16:creationId xmlns:a16="http://schemas.microsoft.com/office/drawing/2014/main" id="{AB213E6C-D06E-E6EB-5784-5CE6C70E8F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7382" y="2464672"/>
            <a:ext cx="3334527" cy="2500896"/>
          </a:xfrm>
          <a:prstGeom prst="rect">
            <a:avLst/>
          </a:prstGeom>
        </p:spPr>
      </p:pic>
      <p:pic>
        <p:nvPicPr>
          <p:cNvPr id="17" name="Imagine 16">
            <a:extLst>
              <a:ext uri="{FF2B5EF4-FFF2-40B4-BE49-F238E27FC236}">
                <a16:creationId xmlns:a16="http://schemas.microsoft.com/office/drawing/2014/main" id="{1EA42718-96CB-44DC-3D07-C93A5EDFDF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0684" y="2464672"/>
            <a:ext cx="3334528" cy="2500896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F9469B9-6468-5B6A-E832-8D4590388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8897" y="5231580"/>
            <a:ext cx="10459156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649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64A662-25C7-DEC7-2731-4CE69D4CF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15">
            <a:extLst>
              <a:ext uri="{FF2B5EF4-FFF2-40B4-BE49-F238E27FC236}">
                <a16:creationId xmlns:a16="http://schemas.microsoft.com/office/drawing/2014/main" id="{D55CA618-78A6-47F6-B865-E9315164F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17">
            <a:extLst>
              <a:ext uri="{FF2B5EF4-FFF2-40B4-BE49-F238E27FC236}">
                <a16:creationId xmlns:a16="http://schemas.microsoft.com/office/drawing/2014/main" id="{B83D307E-DF68-43F8-97CE-0AAE950A7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71255" y="-1"/>
            <a:ext cx="7649490" cy="5728133"/>
            <a:chOff x="329184" y="1"/>
            <a:chExt cx="524256" cy="5728133"/>
          </a:xfrm>
        </p:grpSpPr>
        <p:cxnSp>
          <p:nvCxnSpPr>
            <p:cNvPr id="32" name="Straight Connector 18">
              <a:extLst>
                <a:ext uri="{FF2B5EF4-FFF2-40B4-BE49-F238E27FC236}">
                  <a16:creationId xmlns:a16="http://schemas.microsoft.com/office/drawing/2014/main" id="{5546E3D2-37BF-4528-9851-2B2F628234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28134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ectangle 19">
              <a:extLst>
                <a:ext uri="{FF2B5EF4-FFF2-40B4-BE49-F238E27FC236}">
                  <a16:creationId xmlns:a16="http://schemas.microsoft.com/office/drawing/2014/main" id="{752A0C69-DC4E-4FC0-843C-BAA27B3A56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ED94938-268E-4C0A-A08A-B3980C78B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318045"/>
            <a:ext cx="10999072" cy="53251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EB1A3A10-0BA3-E2D0-9C9F-2968109371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0232" y="3941205"/>
            <a:ext cx="10071536" cy="929750"/>
          </a:xfrm>
        </p:spPr>
        <p:txBody>
          <a:bodyPr anchor="b">
            <a:normAutofit/>
          </a:bodyPr>
          <a:lstStyle/>
          <a:p>
            <a:r>
              <a:rPr lang="ro-RO" sz="5200"/>
              <a:t>Receptor(RX)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355BCA9E-7C20-4ADF-F23B-075BC426A1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0232" y="4984740"/>
            <a:ext cx="10071536" cy="448377"/>
          </a:xfrm>
        </p:spPr>
        <p:txBody>
          <a:bodyPr anchor="t">
            <a:normAutofit/>
          </a:bodyPr>
          <a:lstStyle/>
          <a:p>
            <a:endParaRPr lang="ro-RO" sz="2000"/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59BF452A-8090-7DB6-9A6D-1370C3200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717" y="1277302"/>
            <a:ext cx="5069590" cy="1787029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60B2EE60-B222-C30F-9D80-961FE1ADC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908" y="671201"/>
            <a:ext cx="3998974" cy="2999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81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6340220B-AAB8-FE73-C0D5-E3359F5B0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609" y="679731"/>
            <a:ext cx="4171994" cy="373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100" kern="1200" noProof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Implementare software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416432" y="1"/>
            <a:ext cx="2446384" cy="5777808"/>
            <a:chOff x="329184" y="1"/>
            <a:chExt cx="524256" cy="5777808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Substituent conținut 3">
            <a:extLst>
              <a:ext uri="{FF2B5EF4-FFF2-40B4-BE49-F238E27FC236}">
                <a16:creationId xmlns:a16="http://schemas.microsoft.com/office/drawing/2014/main" id="{A724C32F-279A-BDE5-A6F2-CA215D8CB8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56"/>
          <a:stretch>
            <a:fillRect/>
          </a:stretch>
        </p:blipFill>
        <p:spPr bwMode="auto">
          <a:xfrm>
            <a:off x="6180208" y="557360"/>
            <a:ext cx="4529557" cy="5632704"/>
          </a:xfrm>
          <a:prstGeom prst="rect">
            <a:avLst/>
          </a:prstGeom>
          <a:noFill/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721925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ubstituent conținut 4">
            <a:extLst>
              <a:ext uri="{FF2B5EF4-FFF2-40B4-BE49-F238E27FC236}">
                <a16:creationId xmlns:a16="http://schemas.microsoft.com/office/drawing/2014/main" id="{55D0E6F7-8F2A-2F99-5F23-60B15EB8BA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5504" y="1027906"/>
            <a:ext cx="5070738" cy="4092734"/>
          </a:xfrm>
          <a:prstGeom prst="rect">
            <a:avLst/>
          </a:prstGeom>
        </p:spPr>
      </p:pic>
      <p:pic>
        <p:nvPicPr>
          <p:cNvPr id="7" name="Imagine 6">
            <a:extLst>
              <a:ext uri="{FF2B5EF4-FFF2-40B4-BE49-F238E27FC236}">
                <a16:creationId xmlns:a16="http://schemas.microsoft.com/office/drawing/2014/main" id="{6FCDE762-3829-B7F2-5F68-2E7D3FFAD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934201"/>
            <a:ext cx="5257800" cy="5213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032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DCEA9D38-1106-29CE-1BBF-915880501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Concluzii</a:t>
            </a:r>
            <a:endParaRPr lang="ro-RO" dirty="0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C3214BDE-35B5-FA43-E72C-B2198CAD2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Dispozitivul o eroare de sub 1-2cm.</a:t>
            </a:r>
          </a:p>
          <a:p>
            <a:pPr marL="0" indent="0">
              <a:buNone/>
            </a:pPr>
            <a:endParaRPr lang="ro-RO" dirty="0"/>
          </a:p>
          <a:p>
            <a:r>
              <a:rPr lang="ro-RO" dirty="0"/>
              <a:t>Cu ajutorul pragului reglabil, obținem și imunitatea la zgomot.</a:t>
            </a:r>
          </a:p>
          <a:p>
            <a:pPr marL="0" indent="0">
              <a:buNone/>
            </a:pPr>
            <a:endParaRPr lang="ro-RO" dirty="0"/>
          </a:p>
          <a:p>
            <a:r>
              <a:rPr lang="ro-RO" dirty="0"/>
              <a:t>Datorită consumului mic de energie, poate rula mult timp alimentat de o baterie/acumulator.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948873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E2D4DCA-99B8-89B6-06E6-8FC0D5195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Bibliografie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E66D93FC-F5D8-59E2-7C40-5C852FAB2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>
                <a:hlinkClick r:id="rId2"/>
              </a:rPr>
              <a:t>https://en.wikipedia.org/wiki/Ultrasound</a:t>
            </a:r>
            <a:endParaRPr lang="ro-RO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158844470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127</Words>
  <Application>Microsoft Office PowerPoint</Application>
  <PresentationFormat>Ecran lat</PresentationFormat>
  <Paragraphs>22</Paragraphs>
  <Slides>10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3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Temă Office</vt:lpstr>
      <vt:lpstr>Aplicații practice ale microcontrolerelor – Proiect 2 (APMPr2) </vt:lpstr>
      <vt:lpstr>Introducere</vt:lpstr>
      <vt:lpstr>Implementare hardware</vt:lpstr>
      <vt:lpstr>Transmițător(TX)</vt:lpstr>
      <vt:lpstr>Semnalul recepționat(RX)</vt:lpstr>
      <vt:lpstr>Receptor(RX)</vt:lpstr>
      <vt:lpstr>Implementare software</vt:lpstr>
      <vt:lpstr>Prezentare PowerPoint</vt:lpstr>
      <vt:lpstr>Concluzii</vt:lpstr>
      <vt:lpstr>Bibliografie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Christian-Antonio AMĂRIUŢEI (141756)</dc:creator>
  <cp:lastModifiedBy>Christian-Antonio AMĂRIUŢEI (141756)</cp:lastModifiedBy>
  <cp:revision>20</cp:revision>
  <dcterms:created xsi:type="dcterms:W3CDTF">2026-05-25T07:19:06Z</dcterms:created>
  <dcterms:modified xsi:type="dcterms:W3CDTF">2026-05-27T08:36:30Z</dcterms:modified>
</cp:coreProperties>
</file>